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7" r:id="rId2"/>
    <p:sldId id="298" r:id="rId3"/>
    <p:sldId id="281" r:id="rId4"/>
    <p:sldId id="290" r:id="rId5"/>
    <p:sldId id="293" r:id="rId6"/>
    <p:sldId id="299" r:id="rId7"/>
    <p:sldId id="296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3814" autoAdjust="0"/>
    <p:restoredTop sz="94660"/>
  </p:normalViewPr>
  <p:slideViewPr>
    <p:cSldViewPr snapToGrid="0" snapToObjects="1">
      <p:cViewPr>
        <p:scale>
          <a:sx n="75" d="100"/>
          <a:sy n="75" d="100"/>
        </p:scale>
        <p:origin x="-48" y="80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7/26/2026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9F277-D966-5891-8E8E-FE1852E6B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63166A99-EAE2-2E28-993F-D5871297B2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4ED88F3D-7791-59C8-716F-0AAD4C669A9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CC82298B-112C-33CB-5F98-D6F1C4A4C6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30513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7/26/2026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7/26/2026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7/26/2026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7CE727-C45C-A6F5-9EE5-AF363B2ADA27}"/>
              </a:ext>
            </a:extLst>
          </p:cNvPr>
          <p:cNvSpPr txBox="1"/>
          <p:nvPr/>
        </p:nvSpPr>
        <p:spPr>
          <a:xfrm>
            <a:off x="602343" y="1714078"/>
            <a:ext cx="10397765" cy="4073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title slide) 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lang="en-US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portal.</a:t>
            </a:r>
            <a:endParaRPr lang="en-US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lang="en-US"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99EC04-BCF1-5A69-7D5A-95D43C976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Subtitle 3">
            <a:extLst>
              <a:ext uri="{FF2B5EF4-FFF2-40B4-BE49-F238E27FC236}">
                <a16:creationId xmlns:a16="http://schemas.microsoft.com/office/drawing/2014/main" id="{E0A8E5C6-6BFC-01E5-DDF5-B6A7738A64F4}"/>
              </a:ext>
            </a:extLst>
          </p:cNvPr>
          <p:cNvSpPr txBox="1">
            <a:spLocks/>
          </p:cNvSpPr>
          <p:nvPr/>
        </p:nvSpPr>
        <p:spPr bwMode="auto">
          <a:xfrm>
            <a:off x="1415369" y="-365784"/>
            <a:ext cx="85344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marL="4572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2pPr>
            <a:lvl3pPr marL="9144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3pPr>
            <a:lvl4pPr marL="13716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4pPr>
            <a:lvl5pPr marL="18288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B1BDE7-2DA0-F526-CF6E-F50D43C2C5FE}"/>
              </a:ext>
            </a:extLst>
          </p:cNvPr>
          <p:cNvSpPr txBox="1"/>
          <p:nvPr/>
        </p:nvSpPr>
        <p:spPr>
          <a:xfrm>
            <a:off x="397274" y="1203454"/>
            <a:ext cx="10753326" cy="5425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  <a:r>
              <a:rPr lang="en-IN" sz="2400" dirty="0">
                <a:solidFill>
                  <a:srgbClr val="5A5F69"/>
                </a:solidFill>
              </a:rPr>
              <a:t>HW-SIH-2026-SOC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  <a:r>
              <a:rPr lang="en-US" sz="2400" dirty="0">
                <a:solidFill>
                  <a:srgbClr val="5A5F69"/>
                </a:solidFill>
              </a:rPr>
              <a:t>Enterprise Real-Time Behavioral Anomaly Detection &amp; Threat Intelligence Platform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  <a:r>
              <a:rPr lang="en-IN" sz="2400" dirty="0">
                <a:solidFill>
                  <a:srgbClr val="5A5F69"/>
                </a:solidFill>
              </a:rPr>
              <a:t>Cybersecurity &amp; Industrial IoT Security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IN" sz="2400" dirty="0">
                <a:solidFill>
                  <a:srgbClr val="5A5F69"/>
                </a:solidFill>
              </a:rPr>
              <a:t>Software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Student Name (Registered on portal)- 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Akhil Astitva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Student ID-</a:t>
            </a:r>
            <a:r>
              <a:rPr lang="en-IN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20509613</a:t>
            </a:r>
            <a:endParaRPr lang="en-IN" sz="24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98847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D97706"/>
                </a:solidFill>
              </a:defRPr>
            </a:pPr>
            <a:r>
              <a:rPr dirty="0"/>
              <a:t>PROPOSED SOLUTION &amp; INNOVATION</a:t>
            </a:r>
            <a:endParaRPr lang="en-US" sz="3200" u="sng" dirty="0">
              <a:latin typeface="Arial" pitchFamily="34" charset="0"/>
              <a:cs typeface="Arial" pitchFamily="34" charset="0"/>
            </a:endParaRPr>
          </a:p>
          <a:p>
            <a:pPr>
              <a:spcAft>
                <a:spcPts val="800"/>
              </a:spcAft>
            </a:pPr>
            <a:r>
              <a:rPr sz="1300" b="1" dirty="0">
                <a:solidFill>
                  <a:srgbClr val="1E293B"/>
                </a:solidFill>
              </a:rPr>
              <a:t>• Idea Title: </a:t>
            </a:r>
            <a:r>
              <a:rPr sz="1200" b="0" dirty="0" err="1">
                <a:solidFill>
                  <a:srgbClr val="1E293B"/>
                </a:solidFill>
              </a:rPr>
              <a:t>SentinelAI</a:t>
            </a:r>
            <a:r>
              <a:rPr sz="1200" b="0" dirty="0">
                <a:solidFill>
                  <a:srgbClr val="1E293B"/>
                </a:solidFill>
              </a:rPr>
              <a:t> — AI-Powered Cascaded Anomaly &amp; Threat Detection Engine</a:t>
            </a:r>
          </a:p>
          <a:p>
            <a:pPr>
              <a:spcAft>
                <a:spcPts val="800"/>
              </a:spcAft>
            </a:pPr>
            <a:r>
              <a:rPr sz="1300" b="1" dirty="0">
                <a:solidFill>
                  <a:srgbClr val="1E293B"/>
                </a:solidFill>
              </a:rPr>
              <a:t>• Core Solution: </a:t>
            </a:r>
            <a:r>
              <a:rPr sz="1200" b="0" dirty="0">
                <a:solidFill>
                  <a:srgbClr val="1E293B"/>
                </a:solidFill>
              </a:rPr>
              <a:t>Sequence-aware ML engine detecting zero-day lateral movement, stolen credential abuse, brute force, &amp; ransomware.</a:t>
            </a:r>
          </a:p>
          <a:p>
            <a:pPr>
              <a:spcAft>
                <a:spcPts val="800"/>
              </a:spcAft>
            </a:pPr>
            <a:r>
              <a:rPr sz="1300" b="1" dirty="0">
                <a:solidFill>
                  <a:srgbClr val="1E293B"/>
                </a:solidFill>
              </a:rPr>
              <a:t>• Multi-Entity Telemetry Delineation: </a:t>
            </a:r>
            <a:r>
              <a:rPr sz="1200" b="0" dirty="0">
                <a:solidFill>
                  <a:srgbClr val="1E293B"/>
                </a:solidFill>
              </a:rPr>
              <a:t>Explicit operational delineation across Users (👤), Service Accounts (⚙️), and Edge Devices (🖥️).</a:t>
            </a:r>
          </a:p>
          <a:p>
            <a:pPr>
              <a:spcAft>
                <a:spcPts val="800"/>
              </a:spcAft>
            </a:pPr>
            <a:r>
              <a:rPr sz="1300" b="1" dirty="0">
                <a:solidFill>
                  <a:srgbClr val="1E293B"/>
                </a:solidFill>
              </a:rPr>
              <a:t>• Auth Method Tracking: </a:t>
            </a:r>
            <a:r>
              <a:rPr sz="1200" b="0" dirty="0">
                <a:solidFill>
                  <a:srgbClr val="1E293B"/>
                </a:solidFill>
              </a:rPr>
              <a:t>Monitors 4 distinct authentication protocols: Password, Token (OAuth/SAML/JWT), Certificate (</a:t>
            </a:r>
            <a:r>
              <a:rPr sz="1200" b="0" dirty="0" err="1">
                <a:solidFill>
                  <a:srgbClr val="1E293B"/>
                </a:solidFill>
              </a:rPr>
              <a:t>mTLS</a:t>
            </a:r>
            <a:r>
              <a:rPr sz="1200" b="0" dirty="0">
                <a:solidFill>
                  <a:srgbClr val="1E293B"/>
                </a:solidFill>
              </a:rPr>
              <a:t>), and Biometric (Passkey/FIDO2).</a:t>
            </a:r>
          </a:p>
          <a:p>
            <a:pPr>
              <a:spcAft>
                <a:spcPts val="800"/>
              </a:spcAft>
            </a:pPr>
            <a:r>
              <a:rPr sz="1300" b="1" dirty="0">
                <a:solidFill>
                  <a:srgbClr val="1E293B"/>
                </a:solidFill>
              </a:rPr>
              <a:t>• Explainability &amp; MITRE Mapping: </a:t>
            </a:r>
            <a:r>
              <a:rPr sz="1200" b="0" dirty="0">
                <a:solidFill>
                  <a:srgbClr val="1E293B"/>
                </a:solidFill>
              </a:rPr>
              <a:t>Local SHAP feature attributions paired with MITRE ATT&amp;CK technique IDs (T1078, T1110, T1041, T1486) for plain-English threat storytelling.</a:t>
            </a:r>
          </a:p>
          <a:p>
            <a:pPr>
              <a:spcAft>
                <a:spcPts val="800"/>
              </a:spcAft>
            </a:pPr>
            <a:r>
              <a:rPr sz="1300" b="1" dirty="0">
                <a:solidFill>
                  <a:srgbClr val="1E293B"/>
                </a:solidFill>
              </a:rPr>
              <a:t>• Active SOC Containment: </a:t>
            </a:r>
            <a:r>
              <a:rPr sz="1200" b="0" dirty="0">
                <a:solidFill>
                  <a:srgbClr val="1E293B"/>
                </a:solidFill>
              </a:rPr>
              <a:t>1-click response buttons for session token revocation, credential reset, and network host endpoint isolation.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7696200" y="7207253"/>
            <a:ext cx="3204000" cy="365125"/>
          </a:xfrm>
        </p:spPr>
        <p:txBody>
          <a:bodyPr/>
          <a:lstStyle/>
          <a:p>
            <a:pPr>
              <a:defRPr/>
            </a:pP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21493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1200"/>
              </a:spcAft>
              <a:buFont typeface="Arial" panose="020B0604020202020204" pitchFamily="34" charset="0"/>
              <a:buChar char="•"/>
              <a:defRPr sz="2000" b="1">
                <a:solidFill>
                  <a:srgbClr val="D97706"/>
                </a:solidFill>
              </a:defRPr>
            </a:pPr>
            <a:r>
              <a:rPr dirty="0"/>
              <a:t>TECHNICAL APPROACH &amp; ARCHITECTURE</a:t>
            </a:r>
          </a:p>
          <a:p>
            <a:pPr>
              <a:spcAft>
                <a:spcPts val="800"/>
              </a:spcAft>
            </a:pPr>
            <a:r>
              <a:rPr sz="1300" b="1" dirty="0">
                <a:solidFill>
                  <a:srgbClr val="1E293B"/>
                </a:solidFill>
              </a:rPr>
              <a:t>• Core ML &amp; Backend: </a:t>
            </a:r>
            <a:r>
              <a:rPr sz="1200" b="0" dirty="0">
                <a:solidFill>
                  <a:srgbClr val="1E293B"/>
                </a:solidFill>
              </a:rPr>
              <a:t>Python 3.12, </a:t>
            </a:r>
            <a:r>
              <a:rPr sz="1200" b="0" dirty="0" err="1">
                <a:solidFill>
                  <a:srgbClr val="1E293B"/>
                </a:solidFill>
              </a:rPr>
              <a:t>FastAPI</a:t>
            </a:r>
            <a:r>
              <a:rPr sz="1200" b="0" dirty="0">
                <a:solidFill>
                  <a:srgbClr val="1E293B"/>
                </a:solidFill>
              </a:rPr>
              <a:t> (REST &amp; </a:t>
            </a:r>
            <a:r>
              <a:rPr sz="1200" b="0" dirty="0" err="1">
                <a:solidFill>
                  <a:srgbClr val="1E293B"/>
                </a:solidFill>
              </a:rPr>
              <a:t>WebSockets</a:t>
            </a:r>
            <a:r>
              <a:rPr sz="1200" b="0" dirty="0">
                <a:solidFill>
                  <a:srgbClr val="1E293B"/>
                </a:solidFill>
              </a:rPr>
              <a:t>), </a:t>
            </a:r>
            <a:r>
              <a:rPr sz="1200" b="0" dirty="0" err="1">
                <a:solidFill>
                  <a:srgbClr val="1E293B"/>
                </a:solidFill>
              </a:rPr>
              <a:t>LightGBM</a:t>
            </a:r>
            <a:r>
              <a:rPr sz="1200" b="0" dirty="0">
                <a:solidFill>
                  <a:srgbClr val="1E293B"/>
                </a:solidFill>
              </a:rPr>
              <a:t> Classifier, Isolation Forest, SHAP Explainability Engine.</a:t>
            </a:r>
          </a:p>
          <a:p>
            <a:pPr>
              <a:spcAft>
                <a:spcPts val="800"/>
              </a:spcAft>
            </a:pPr>
            <a:r>
              <a:rPr sz="1300" b="1" dirty="0">
                <a:solidFill>
                  <a:srgbClr val="1E293B"/>
                </a:solidFill>
              </a:rPr>
              <a:t>• Frontend SOC Dashboard: </a:t>
            </a:r>
            <a:r>
              <a:rPr sz="1200" b="0" dirty="0">
                <a:solidFill>
                  <a:srgbClr val="1E293B"/>
                </a:solidFill>
              </a:rPr>
              <a:t>React 18, Vite 5, Tailwind CSS, </a:t>
            </a:r>
            <a:r>
              <a:rPr sz="1200" b="0" dirty="0" err="1">
                <a:solidFill>
                  <a:srgbClr val="1E293B"/>
                </a:solidFill>
              </a:rPr>
              <a:t>Lucide</a:t>
            </a:r>
            <a:r>
              <a:rPr sz="1200" b="0" dirty="0">
                <a:solidFill>
                  <a:srgbClr val="1E293B"/>
                </a:solidFill>
              </a:rPr>
              <a:t> Icons, Recharts Analytics.</a:t>
            </a:r>
          </a:p>
          <a:p>
            <a:pPr>
              <a:spcAft>
                <a:spcPts val="800"/>
              </a:spcAft>
            </a:pPr>
            <a:r>
              <a:rPr sz="1300" b="1" dirty="0">
                <a:solidFill>
                  <a:srgbClr val="1E293B"/>
                </a:solidFill>
              </a:rPr>
              <a:t>• Feature Engineering Pipeline: </a:t>
            </a:r>
            <a:r>
              <a:rPr sz="1200" b="0" dirty="0">
                <a:solidFill>
                  <a:srgbClr val="1E293B"/>
                </a:solidFill>
              </a:rPr>
              <a:t>Extracts 30 spatiotemporal &amp; sequence features including Haversine Velocity (km/h), cyclical time, and device drift.</a:t>
            </a:r>
          </a:p>
          <a:p>
            <a:pPr>
              <a:spcAft>
                <a:spcPts val="800"/>
              </a:spcAft>
            </a:pPr>
            <a:r>
              <a:rPr sz="1300" b="1" dirty="0">
                <a:solidFill>
                  <a:srgbClr val="1E293B"/>
                </a:solidFill>
              </a:rPr>
              <a:t>• Cascaded 3-Stage Architecture: </a:t>
            </a:r>
            <a:r>
              <a:rPr sz="1200" b="0" dirty="0">
                <a:solidFill>
                  <a:srgbClr val="1E293B"/>
                </a:solidFill>
              </a:rPr>
              <a:t>Stage 1 Unsupervised Anomaly Scoring -&gt; Stage 2 Sequence Window -&gt; Stage 3 </a:t>
            </a:r>
            <a:r>
              <a:rPr sz="1200" b="0" dirty="0" err="1">
                <a:solidFill>
                  <a:srgbClr val="1E293B"/>
                </a:solidFill>
              </a:rPr>
              <a:t>LightGBM</a:t>
            </a:r>
            <a:r>
              <a:rPr sz="1200" b="0" dirty="0">
                <a:solidFill>
                  <a:srgbClr val="1E293B"/>
                </a:solidFill>
              </a:rPr>
              <a:t> Multi-Class Classifier.</a:t>
            </a:r>
            <a:endParaRPr lang="en-IN" sz="1200" b="0" dirty="0">
              <a:solidFill>
                <a:srgbClr val="1E293B"/>
              </a:solidFill>
            </a:endParaRPr>
          </a:p>
          <a:p>
            <a:pPr>
              <a:spcAft>
                <a:spcPts val="800"/>
              </a:spcAft>
            </a:pPr>
            <a:r>
              <a:rPr lang="en-US" sz="1300" b="1" dirty="0">
                <a:solidFill>
                  <a:srgbClr val="1E293B"/>
                </a:solidFill>
              </a:rPr>
              <a:t>• Model Disk Caching: </a:t>
            </a:r>
            <a:r>
              <a:rPr lang="en-US" sz="1200" dirty="0">
                <a:solidFill>
                  <a:srgbClr val="1E293B"/>
                </a:solidFill>
              </a:rPr>
              <a:t>Pre-trained models serialized with </a:t>
            </a:r>
            <a:r>
              <a:rPr lang="en-US" sz="1200" dirty="0" err="1">
                <a:solidFill>
                  <a:srgbClr val="1E293B"/>
                </a:solidFill>
              </a:rPr>
              <a:t>joblib</a:t>
            </a:r>
            <a:r>
              <a:rPr lang="en-US" sz="1200" dirty="0">
                <a:solidFill>
                  <a:srgbClr val="1E293B"/>
                </a:solidFill>
              </a:rPr>
              <a:t> for 0.06s instant server startup and sub-millisecond inference per log event.</a:t>
            </a:r>
          </a:p>
        </p:txBody>
      </p:sp>
      <p:pic>
        <p:nvPicPr>
          <p:cNvPr id="17411" name="Picture 17410" descr="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2420" y="4812453"/>
            <a:ext cx="4389120" cy="19507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 sz="2000" b="1">
                <a:solidFill>
                  <a:srgbClr val="D97706"/>
                </a:solidFill>
              </a:defRPr>
            </a:pPr>
            <a:r>
              <a:t>FEASIBILITY, VIABILITY &amp; RISK MITIGATION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E293B"/>
                </a:solidFill>
              </a:rPr>
              <a:t>• Feasibility &amp; Performance: </a:t>
            </a:r>
            <a:r>
              <a:rPr sz="1200" b="0">
                <a:solidFill>
                  <a:srgbClr val="1E293B"/>
                </a:solidFill>
              </a:rPr>
              <a:t>0.06s server launch time, ~1,200 events/sec throughput, and clean production Vite build (10.72s compile time).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E293B"/>
                </a:solidFill>
              </a:rPr>
              <a:t>• Analyst Alert Budget: </a:t>
            </a:r>
            <a:r>
              <a:rPr sz="1200" b="0">
                <a:solidFill>
                  <a:srgbClr val="1E293B"/>
                </a:solidFill>
              </a:rPr>
              <a:t>Dynamic 97th percentile cutoff isolates top 1% critical threats, reducing alert fatigue by 99%.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E293B"/>
                </a:solidFill>
              </a:rPr>
              <a:t>• PSI Concept Drift Monitoring: </a:t>
            </a:r>
            <a:r>
              <a:rPr sz="1200" b="0">
                <a:solidFill>
                  <a:srgbClr val="1E293B"/>
                </a:solidFill>
              </a:rPr>
              <a:t>Tracks population stability index (PSI = 0.0167) to automatically detect data drift and maintain model accuracy.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E293B"/>
                </a:solidFill>
              </a:rPr>
              <a:t>• Potential Challenges &amp; Risks: </a:t>
            </a:r>
            <a:r>
              <a:rPr sz="1200" b="0">
                <a:solidFill>
                  <a:srgbClr val="1E293B"/>
                </a:solidFill>
              </a:rPr>
              <a:t>High-velocity telemetry bursts during DDoS/brute-force attacks and risk of false positives interrupting business workflows.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E293B"/>
                </a:solidFill>
              </a:rPr>
              <a:t>• Mitigation Strategies: </a:t>
            </a:r>
            <a:r>
              <a:rPr sz="1200" b="0">
                <a:solidFill>
                  <a:srgbClr val="1E293B"/>
                </a:solidFill>
              </a:rPr>
              <a:t>Analyst Feedback Loop (/api/feedback) for online active learning + 1-click SOC false-positive dismissal.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09052-50AE-B3C2-6A1C-5CFF37D94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5E03BF1A-7989-5C44-934B-D93E14918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ARTIFACTS</a:t>
            </a:r>
          </a:p>
        </p:txBody>
      </p:sp>
      <p:sp>
        <p:nvSpPr>
          <p:cNvPr id="17410" name="TextBox 8">
            <a:extLst>
              <a:ext uri="{FF2B5EF4-FFF2-40B4-BE49-F238E27FC236}">
                <a16:creationId xmlns:a16="http://schemas.microsoft.com/office/drawing/2014/main" id="{DD0C6F84-D6ED-416D-7179-055149D83F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2533653"/>
            <a:ext cx="9385300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 sz="2000" b="1">
                <a:solidFill>
                  <a:srgbClr val="D97706"/>
                </a:solidFill>
              </a:defRPr>
            </a:pPr>
            <a:r>
              <a:t>SYSTEM ARTIFACTS &amp; LIVE DASHBOARD PROTOTYPE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E293B"/>
                </a:solidFill>
              </a:rPr>
              <a:t>• Modular Codebase: </a:t>
            </a:r>
            <a:r>
              <a:rPr sz="1200" b="0">
                <a:solidFill>
                  <a:srgbClr val="1E293B"/>
                </a:solidFill>
              </a:rPr>
              <a:t>backend/api_server.py (FastAPI core), backend/feature_engine.py, frontend/src/components/UserProcessDashboard.jsx.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E293B"/>
                </a:solidFill>
              </a:rPr>
              <a:t>• Live Dashboard Interfaces: </a:t>
            </a:r>
            <a:r>
              <a:rPr sz="1200" b="0">
                <a:solidFill>
                  <a:srgbClr val="1E293B"/>
                </a:solidFill>
              </a:rPr>
              <a:t>Executive Alert Feed &amp; SHAP Panel + Multi-Entity Process Drilldown &amp; 24-Hour Heatmap Matrix (Dark &amp; Light Themes).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E293B"/>
                </a:solidFill>
              </a:rPr>
              <a:t>• Automated Testing &amp; Builds: </a:t>
            </a:r>
            <a:r>
              <a:rPr sz="1200" b="0">
                <a:solidFill>
                  <a:srgbClr val="1E293B"/>
                </a:solidFill>
              </a:rPr>
              <a:t>Clean Vite production bundle, sub-millisecond batch vector inference, and REST polling integration.</a:t>
            </a:r>
          </a:p>
        </p:txBody>
      </p:sp>
      <p:pic>
        <p:nvPicPr>
          <p:cNvPr id="17411" name="Picture 17410" descr="alert_feed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4907638"/>
            <a:ext cx="2560320" cy="1321498"/>
          </a:xfrm>
          <a:prstGeom prst="rect">
            <a:avLst/>
          </a:prstGeom>
        </p:spPr>
      </p:pic>
      <p:pic>
        <p:nvPicPr>
          <p:cNvPr id="17412" name="Picture 17411" descr="drilldown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2200" y="4907638"/>
            <a:ext cx="2560320" cy="1321498"/>
          </a:xfrm>
          <a:prstGeom prst="rect">
            <a:avLst/>
          </a:prstGeom>
        </p:spPr>
      </p:pic>
      <p:pic>
        <p:nvPicPr>
          <p:cNvPr id="17413" name="Picture 17412" descr="drilldown_ligh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5400" y="4907638"/>
            <a:ext cx="2560320" cy="1321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4478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 sz="2000" b="1">
                <a:solidFill>
                  <a:srgbClr val="D97706"/>
                </a:solidFill>
              </a:defRPr>
            </a:pPr>
            <a:r>
              <a:rPr dirty="0"/>
              <a:t>RESEARCH, FRAMEWORKS &amp; REFERENCES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Aft>
                <a:spcPts val="800"/>
              </a:spcAft>
            </a:pPr>
            <a:r>
              <a:rPr sz="1300" b="1" dirty="0">
                <a:solidFill>
                  <a:srgbClr val="1E293B"/>
                </a:solidFill>
              </a:rPr>
              <a:t>• MITRE ATT&amp;CK Framework: </a:t>
            </a:r>
            <a:r>
              <a:rPr sz="1200" b="0" dirty="0">
                <a:solidFill>
                  <a:srgbClr val="1E293B"/>
                </a:solidFill>
              </a:rPr>
              <a:t>Mapped detection logic to T1078 (Valid Accounts), T1110 (Brute Force), T1041 (Exfiltration), &amp; T1486 (Ransomware Encrypt).</a:t>
            </a:r>
          </a:p>
          <a:p>
            <a:pPr>
              <a:spcAft>
                <a:spcPts val="800"/>
              </a:spcAft>
            </a:pPr>
            <a:r>
              <a:rPr sz="1300" b="1" dirty="0">
                <a:solidFill>
                  <a:srgbClr val="1E293B"/>
                </a:solidFill>
              </a:rPr>
              <a:t>• SHAP Explainability (Lundberg &amp; Lee, 2017): </a:t>
            </a:r>
            <a:r>
              <a:rPr sz="1200" b="0" dirty="0">
                <a:solidFill>
                  <a:srgbClr val="1E293B"/>
                </a:solidFill>
              </a:rPr>
              <a:t>A Unified Approach to Interpreting Model Predictions (</a:t>
            </a:r>
            <a:r>
              <a:rPr sz="1200" b="0" dirty="0" err="1">
                <a:solidFill>
                  <a:srgbClr val="1E293B"/>
                </a:solidFill>
              </a:rPr>
              <a:t>NeurIPS</a:t>
            </a:r>
            <a:r>
              <a:rPr sz="1200" b="0" dirty="0">
                <a:solidFill>
                  <a:srgbClr val="1E293B"/>
                </a:solidFill>
              </a:rPr>
              <a:t> 2017) for quantitative feature attributions.</a:t>
            </a:r>
          </a:p>
          <a:p>
            <a:pPr>
              <a:spcAft>
                <a:spcPts val="800"/>
              </a:spcAft>
            </a:pPr>
            <a:r>
              <a:rPr sz="1300" b="1" dirty="0">
                <a:solidFill>
                  <a:srgbClr val="1E293B"/>
                </a:solidFill>
              </a:rPr>
              <a:t>• Haversine Spatiotemporal Dynamics: </a:t>
            </a:r>
            <a:r>
              <a:rPr sz="1200" b="0" dirty="0">
                <a:solidFill>
                  <a:srgbClr val="1E293B"/>
                </a:solidFill>
              </a:rPr>
              <a:t>Great-Circle Distance calculation for high-velocity physical travel anomaly detection (&gt;800 km/h).</a:t>
            </a:r>
          </a:p>
          <a:p>
            <a:pPr>
              <a:spcAft>
                <a:spcPts val="800"/>
              </a:spcAft>
            </a:pPr>
            <a:r>
              <a:rPr sz="1300" b="1" dirty="0">
                <a:solidFill>
                  <a:srgbClr val="1E293B"/>
                </a:solidFill>
              </a:rPr>
              <a:t>• </a:t>
            </a:r>
            <a:r>
              <a:rPr sz="1300" b="1" dirty="0" err="1">
                <a:solidFill>
                  <a:srgbClr val="1E293B"/>
                </a:solidFill>
              </a:rPr>
              <a:t>LightGBM</a:t>
            </a:r>
            <a:r>
              <a:rPr sz="1300" b="1" dirty="0">
                <a:solidFill>
                  <a:srgbClr val="1E293B"/>
                </a:solidFill>
              </a:rPr>
              <a:t> Engine (Ke et al., 2017): </a:t>
            </a:r>
            <a:r>
              <a:rPr sz="1200" b="0" dirty="0" err="1">
                <a:solidFill>
                  <a:srgbClr val="1E293B"/>
                </a:solidFill>
              </a:rPr>
              <a:t>LightGBM</a:t>
            </a:r>
            <a:r>
              <a:rPr sz="1200" b="0" dirty="0">
                <a:solidFill>
                  <a:srgbClr val="1E293B"/>
                </a:solidFill>
              </a:rPr>
              <a:t>: A Highly Efficient Gradient Boosting Decision Tree (Advances in Neural Information Processing Systems 30).</a:t>
            </a:r>
          </a:p>
          <a:p>
            <a:pPr>
              <a:spcAft>
                <a:spcPts val="800"/>
              </a:spcAft>
            </a:pPr>
            <a:r>
              <a:rPr sz="1300" b="1" dirty="0">
                <a:solidFill>
                  <a:srgbClr val="1E293B"/>
                </a:solidFill>
              </a:rPr>
              <a:t>• Project Documentation &amp; Repository: </a:t>
            </a:r>
            <a:r>
              <a:rPr sz="1200" b="0" dirty="0">
                <a:solidFill>
                  <a:srgbClr val="1E293B"/>
                </a:solidFill>
              </a:rPr>
              <a:t>Complete technical documentation in README.md and PDF Guide (AI_Powered_Behavioral_Anomaly_Detection_Comprehensive_Guide.pdf).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d546e5e1-5d42-4630-bacd-c69bfdcbd5e8}" enabled="1" method="Standard" siteId="{96ece526-9c7d-48b0-8daf-8b93c90a5d18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7726</TotalTime>
  <Words>814</Words>
  <Application>Microsoft Office PowerPoint</Application>
  <PresentationFormat>Widescreen</PresentationFormat>
  <Paragraphs>61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ＭＳ Ｐゴシック</vt:lpstr>
      <vt:lpstr>Arial</vt:lpstr>
      <vt:lpstr>Calibri</vt:lpstr>
      <vt:lpstr>Times New Roman</vt:lpstr>
      <vt:lpstr>TradeGothic</vt:lpstr>
      <vt:lpstr>Office Theme</vt:lpstr>
      <vt:lpstr>PowerPoint Presentation</vt:lpstr>
      <vt:lpstr>PowerPoint Presentation</vt:lpstr>
      <vt:lpstr> IDEA TITLE</vt:lpstr>
      <vt:lpstr>TECHNICAL APPROACH</vt:lpstr>
      <vt:lpstr>FEASIBILITY AND VIABILITY</vt:lpstr>
      <vt:lpstr>ARTIFACTS</vt:lpstr>
      <vt:lpstr>RESEARCH  AND REFERENCES</vt:lpstr>
    </vt:vector>
  </TitlesOfParts>
  <Manager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Idea Template</dc:title>
  <dc:subject/>
  <cp:keywords/>
  <dc:description/>
  <cp:lastModifiedBy>Akhil Astitva_IN26012154</cp:lastModifiedBy>
  <cp:revision>154</cp:revision>
  <dcterms:created xsi:type="dcterms:W3CDTF">2013-12-12T18:46:50Z</dcterms:created>
  <dcterms:modified xsi:type="dcterms:W3CDTF">2026-07-26T18:21:21Z</dcterms:modified>
  <cp:category/>
</cp:coreProperties>
</file>